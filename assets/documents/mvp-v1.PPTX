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3"/>
  </p:notesMasterIdLst>
  <p:sldIdLst>
    <p:sldId id="257" r:id="rId2"/>
    <p:sldId id="276" r:id="rId3"/>
    <p:sldId id="295" r:id="rId4"/>
    <p:sldId id="297" r:id="rId5"/>
    <p:sldId id="299" r:id="rId6"/>
    <p:sldId id="291" r:id="rId7"/>
    <p:sldId id="294" r:id="rId8"/>
    <p:sldId id="296" r:id="rId9"/>
    <p:sldId id="306" r:id="rId10"/>
    <p:sldId id="307" r:id="rId11"/>
    <p:sldId id="300" r:id="rId12"/>
    <p:sldId id="293" r:id="rId13"/>
    <p:sldId id="277" r:id="rId14"/>
    <p:sldId id="304" r:id="rId15"/>
    <p:sldId id="305" r:id="rId16"/>
    <p:sldId id="308" r:id="rId17"/>
    <p:sldId id="309" r:id="rId18"/>
    <p:sldId id="310" r:id="rId19"/>
    <p:sldId id="311" r:id="rId20"/>
    <p:sldId id="312" r:id="rId21"/>
    <p:sldId id="31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449"/>
    <a:srgbClr val="AFECD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6" autoAdjust="0"/>
    <p:restoredTop sz="94660" autoAdjust="0"/>
  </p:normalViewPr>
  <p:slideViewPr>
    <p:cSldViewPr>
      <p:cViewPr varScale="1">
        <p:scale>
          <a:sx n="111" d="100"/>
          <a:sy n="111" d="100"/>
        </p:scale>
        <p:origin x="1752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80" d="100"/>
        <a:sy n="180" d="100"/>
      </p:scale>
      <p:origin x="0" y="-3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6EF07-0756-4965-9D4D-1BD9B926E3B2}" type="datetimeFigureOut">
              <a:rPr lang="pt-BR" smtClean="0"/>
              <a:pPr/>
              <a:t>16/06/2020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D11CF-B55F-451C-BE1F-FDBC3DA1BDA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56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0D11CF-B55F-451C-BE1F-FDBC3DA1BDA3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348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313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1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23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6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0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8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5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7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0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9EEB9B-2BD7-4788-886B-C9B43F642D8F}" type="datetimeFigureOut">
              <a:rPr lang="en-US" smtClean="0"/>
              <a:pPr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C2BC70A-D485-4FEA-B647-2D47327DC11F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51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uatrorodas.abril.com.br/auto-servico/estas-11-dicas-vao-te-ajudar-a-nao-cair-em-labia-de-nenhum-mecanico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otor1.uol.com.br/news/410682/consultoria-automotiva-oficinas-escolha-defeito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-99392"/>
            <a:ext cx="9144000" cy="1296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tângulo 8"/>
          <p:cNvSpPr/>
          <p:nvPr/>
        </p:nvSpPr>
        <p:spPr>
          <a:xfrm>
            <a:off x="0" y="4817433"/>
            <a:ext cx="9180512" cy="2060848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tângulo 10"/>
          <p:cNvSpPr/>
          <p:nvPr/>
        </p:nvSpPr>
        <p:spPr>
          <a:xfrm>
            <a:off x="-18256" y="-735468"/>
            <a:ext cx="9180512" cy="2475340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aixaDeTexto 9"/>
          <p:cNvSpPr txBox="1"/>
          <p:nvPr/>
        </p:nvSpPr>
        <p:spPr>
          <a:xfrm>
            <a:off x="629816" y="348478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 TECNOLOGIA</a:t>
            </a:r>
          </a:p>
        </p:txBody>
      </p:sp>
      <p:sp>
        <p:nvSpPr>
          <p:cNvPr id="2" name="AutoShape 2" descr="Resultado de imagem para doação de sangu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3203848" y="1784943"/>
            <a:ext cx="3168352" cy="2976921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413792" y="5229200"/>
            <a:ext cx="831641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 Integrador I</a:t>
            </a:r>
          </a:p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de Sistemas</a:t>
            </a:r>
          </a:p>
          <a:p>
            <a:pPr algn="ctr"/>
            <a:r>
              <a:rPr lang="pt-BR" sz="20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Newton Paiva</a:t>
            </a:r>
          </a:p>
        </p:txBody>
      </p:sp>
    </p:spTree>
    <p:extLst>
      <p:ext uri="{BB962C8B-B14F-4D97-AF65-F5344CB8AC3E}">
        <p14:creationId xmlns:p14="http://schemas.microsoft.com/office/powerpoint/2010/main" val="23572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-99392"/>
            <a:ext cx="9144000" cy="1296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tângulo 8"/>
          <p:cNvSpPr/>
          <p:nvPr/>
        </p:nvSpPr>
        <p:spPr>
          <a:xfrm>
            <a:off x="0" y="5157192"/>
            <a:ext cx="9180512" cy="1700808"/>
          </a:xfrm>
          <a:prstGeom prst="rect">
            <a:avLst/>
          </a:prstGeom>
          <a:solidFill>
            <a:srgbClr val="AFE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aixaDeTexto 6"/>
          <p:cNvSpPr txBox="1"/>
          <p:nvPr/>
        </p:nvSpPr>
        <p:spPr>
          <a:xfrm>
            <a:off x="-100781" y="1844824"/>
            <a:ext cx="928129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ALUNOS</a:t>
            </a:r>
            <a:endParaRPr lang="pt-BR" sz="2800" b="1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700" b="1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800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Alexandre Batista </a:t>
            </a:r>
            <a:r>
              <a:rPr lang="pt-BR" sz="2800" b="1" dirty="0" err="1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Amormino</a:t>
            </a:r>
            <a:endParaRPr lang="pt-BR" sz="2800" b="1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800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Paula </a:t>
            </a:r>
            <a:r>
              <a:rPr lang="pt-BR" sz="2800" b="1" dirty="0" err="1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Scalabrini</a:t>
            </a:r>
            <a:endParaRPr lang="pt-BR" sz="2800" b="1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800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Felipe Moraes Elias</a:t>
            </a:r>
          </a:p>
          <a:p>
            <a:pPr algn="ctr"/>
            <a:r>
              <a:rPr lang="pt-BR" sz="2800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Gustavo Alberto </a:t>
            </a:r>
            <a:r>
              <a:rPr lang="pt-BR" sz="2800" b="1" dirty="0" err="1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Amabile</a:t>
            </a:r>
            <a:r>
              <a:rPr lang="pt-BR" sz="2800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Alves</a:t>
            </a:r>
          </a:p>
          <a:p>
            <a:pPr algn="ctr"/>
            <a:r>
              <a:rPr lang="pt-BR" sz="2800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Paulo Roberto Pinto de Almeida Filho</a:t>
            </a:r>
          </a:p>
          <a:p>
            <a:pPr algn="ctr"/>
            <a:endParaRPr lang="pt-BR" sz="1400" b="1" dirty="0" smtClean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endParaRPr lang="pt-BR" sz="2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0" y="-520653"/>
            <a:ext cx="9180512" cy="2363258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/>
          <p:cNvSpPr/>
          <p:nvPr/>
        </p:nvSpPr>
        <p:spPr>
          <a:xfrm>
            <a:off x="0" y="5774224"/>
            <a:ext cx="9180512" cy="225088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tângulo 12"/>
          <p:cNvSpPr/>
          <p:nvPr/>
        </p:nvSpPr>
        <p:spPr>
          <a:xfrm>
            <a:off x="-9542" y="6126781"/>
            <a:ext cx="9180512" cy="729000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ângulo 13"/>
          <p:cNvSpPr/>
          <p:nvPr/>
        </p:nvSpPr>
        <p:spPr>
          <a:xfrm>
            <a:off x="-25253" y="5291922"/>
            <a:ext cx="9180512" cy="10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ângulo 16"/>
          <p:cNvSpPr/>
          <p:nvPr/>
        </p:nvSpPr>
        <p:spPr>
          <a:xfrm>
            <a:off x="-9542" y="749536"/>
            <a:ext cx="9180512" cy="559512"/>
          </a:xfrm>
          <a:prstGeom prst="rect">
            <a:avLst/>
          </a:prstGeom>
          <a:solidFill>
            <a:srgbClr val="AFE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3762164" y="61895"/>
            <a:ext cx="1656184" cy="1556118"/>
          </a:xfrm>
          <a:prstGeom prst="rect">
            <a:avLst/>
          </a:prstGeom>
        </p:spPr>
      </p:pic>
      <p:sp>
        <p:nvSpPr>
          <p:cNvPr id="15" name="Retângulo 14"/>
          <p:cNvSpPr/>
          <p:nvPr/>
        </p:nvSpPr>
        <p:spPr>
          <a:xfrm>
            <a:off x="-665820" y="962713"/>
            <a:ext cx="4427984" cy="135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ângulo 15"/>
          <p:cNvSpPr/>
          <p:nvPr/>
        </p:nvSpPr>
        <p:spPr>
          <a:xfrm>
            <a:off x="5418348" y="962000"/>
            <a:ext cx="4427984" cy="135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-108520" y="-1"/>
            <a:ext cx="9361040" cy="1746102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22960" y="536962"/>
            <a:ext cx="7543800" cy="756633"/>
          </a:xfrm>
        </p:spPr>
        <p:txBody>
          <a:bodyPr/>
          <a:lstStyle/>
          <a:p>
            <a:pPr algn="ctr"/>
            <a:r>
              <a:rPr lang="pt-BR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endParaRPr lang="pt-BR" b="1" dirty="0">
              <a:solidFill>
                <a:srgbClr val="AFECD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Espaço Reservado para Conteúdo 2"/>
          <p:cNvSpPr>
            <a:spLocks noGrp="1"/>
          </p:cNvSpPr>
          <p:nvPr>
            <p:ph idx="1"/>
          </p:nvPr>
        </p:nvSpPr>
        <p:spPr>
          <a:xfrm>
            <a:off x="623910" y="2490348"/>
            <a:ext cx="7920880" cy="2607286"/>
          </a:xfrm>
        </p:spPr>
        <p:txBody>
          <a:bodyPr/>
          <a:lstStyle/>
          <a:p>
            <a:pPr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sz="18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Falta de confiança em oficinas mecânicas;</a:t>
            </a:r>
          </a:p>
          <a:p>
            <a:pPr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sz="18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Dificuldade de adquirir peças sobressalentes para conserto de veículos automotores em um curto período de tempo;</a:t>
            </a:r>
          </a:p>
          <a:p>
            <a:pPr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sz="18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Dificuldade de arrumar o veículo em um único estabelecimento;</a:t>
            </a:r>
          </a:p>
          <a:p>
            <a:pPr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sz="18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Dificuldade de confiar na qualidade das peças sobressalentes  adquiridas para o reparo do automóvel;</a:t>
            </a:r>
          </a:p>
          <a:p>
            <a:pPr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sz="18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 excessivo gasto na manutenção do veículo;</a:t>
            </a:r>
          </a:p>
          <a:p>
            <a:pPr>
              <a:buNone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/>
          </a:p>
          <a:p>
            <a:endParaRPr lang="pt-BR" dirty="0"/>
          </a:p>
        </p:txBody>
      </p:sp>
      <p:grpSp>
        <p:nvGrpSpPr>
          <p:cNvPr id="2" name="Grupo 1"/>
          <p:cNvGrpSpPr/>
          <p:nvPr/>
        </p:nvGrpSpPr>
        <p:grpSpPr>
          <a:xfrm>
            <a:off x="-5906" y="5945999"/>
            <a:ext cx="9180512" cy="930483"/>
            <a:chOff x="-5906" y="5945999"/>
            <a:chExt cx="9180512" cy="930483"/>
          </a:xfrm>
        </p:grpSpPr>
        <p:sp>
          <p:nvSpPr>
            <p:cNvPr id="6" name="Retângulo 5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Retângulo 8"/>
          <p:cNvSpPr/>
          <p:nvPr/>
        </p:nvSpPr>
        <p:spPr>
          <a:xfrm>
            <a:off x="-235371" y="1196752"/>
            <a:ext cx="9414792" cy="968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6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-270792" y="1685808"/>
            <a:ext cx="9414792" cy="968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-90264" y="-56032"/>
            <a:ext cx="9361040" cy="1521337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771520" y="33538"/>
            <a:ext cx="7637472" cy="1342196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r>
              <a:rPr lang="pt-BR" sz="44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400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4400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44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Informações Externas)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 l="12367" t="13579" r="6832" b="6688"/>
          <a:stretch>
            <a:fillRect/>
          </a:stretch>
        </p:blipFill>
        <p:spPr bwMode="auto">
          <a:xfrm>
            <a:off x="1137306" y="1496252"/>
            <a:ext cx="7107102" cy="394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CaixaDeTexto 8"/>
          <p:cNvSpPr txBox="1"/>
          <p:nvPr/>
        </p:nvSpPr>
        <p:spPr>
          <a:xfrm>
            <a:off x="1331640" y="5458607"/>
            <a:ext cx="6768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192449"/>
                </a:solidFill>
                <a:hlinkClick r:id="rId3"/>
              </a:rPr>
              <a:t>https://quatrorodas.abril.com.br/auto-servico/estas-11-dicas-vao-te-ajudar-a-nao-cair-em-labia-de-nenhum-mecanico/</a:t>
            </a:r>
            <a:endParaRPr lang="pt-BR" sz="1400" dirty="0">
              <a:solidFill>
                <a:srgbClr val="192449"/>
              </a:solidFill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-19159" y="6098241"/>
            <a:ext cx="9180512" cy="813793"/>
            <a:chOff x="-5906" y="5945999"/>
            <a:chExt cx="9180512" cy="930483"/>
          </a:xfrm>
        </p:grpSpPr>
        <p:sp>
          <p:nvSpPr>
            <p:cNvPr id="8" name="Retângulo 7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671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611560" y="1669772"/>
            <a:ext cx="7992888" cy="2470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/>
          <p:cNvSpPr txBox="1"/>
          <p:nvPr/>
        </p:nvSpPr>
        <p:spPr>
          <a:xfrm>
            <a:off x="1331640" y="5445224"/>
            <a:ext cx="6768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hlinkClick r:id="rId2"/>
              </a:rPr>
              <a:t>https://motor1.uol.com.br/news/410682/consultoria-automotiva-oficinas-escolha-defeitos/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14662" r="16159"/>
          <a:stretch>
            <a:fillRect/>
          </a:stretch>
        </p:blipFill>
        <p:spPr bwMode="auto">
          <a:xfrm>
            <a:off x="1619672" y="1539054"/>
            <a:ext cx="5936018" cy="3800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tângulo 5"/>
          <p:cNvSpPr/>
          <p:nvPr/>
        </p:nvSpPr>
        <p:spPr>
          <a:xfrm>
            <a:off x="-90264" y="-56032"/>
            <a:ext cx="9361040" cy="1521337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822958" y="-42917"/>
            <a:ext cx="7637472" cy="1342196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 </a:t>
            </a:r>
            <a:br>
              <a:rPr lang="pt-BR" sz="40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0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(Informações Externas)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-18620" y="6165304"/>
            <a:ext cx="9180512" cy="930483"/>
            <a:chOff x="-5906" y="5945999"/>
            <a:chExt cx="9180512" cy="930483"/>
          </a:xfrm>
        </p:grpSpPr>
        <p:sp>
          <p:nvSpPr>
            <p:cNvPr id="11" name="Retângulo 10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671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/>
          <p:cNvSpPr/>
          <p:nvPr/>
        </p:nvSpPr>
        <p:spPr>
          <a:xfrm>
            <a:off x="-85660" y="0"/>
            <a:ext cx="9361040" cy="1737361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22960" y="143301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VALIDAÇÃO DA DOR </a:t>
            </a:r>
            <a:r>
              <a:rPr lang="pt-BR" sz="40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40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0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(156 entrevistados)</a:t>
            </a:r>
          </a:p>
        </p:txBody>
      </p:sp>
      <p:sp>
        <p:nvSpPr>
          <p:cNvPr id="11266" name="AutoShape 2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11268" name="AutoShape 4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11270" name="AutoShape 6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11272" name="AutoShape 8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11274" name="AutoShape 10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76" name="AutoShape 12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78" name="AutoShape 14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80" name="AutoShape 16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82" name="AutoShape 18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84" name="AutoShape 20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86" name="AutoShape 22" descr="Gráfico de respostas do Formulários Google. Título da pergunta: Gênero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88" name="AutoShape 24" descr="Gráfico de respostas do Formulários Google. Título da pergunta: Idade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90" name="AutoShape 26" descr="Gráfico de respostas do Formulários Google. Título da pergunta: Idade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611560" y="4509120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192449"/>
                </a:solidFill>
              </a:rPr>
              <a:t>117 pessoas do sexo masculino;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39 pessoas do sexo feminino;</a:t>
            </a:r>
            <a:endParaRPr lang="pt-BR" sz="1400" dirty="0">
              <a:solidFill>
                <a:srgbClr val="192449"/>
              </a:solidFill>
            </a:endParaRPr>
          </a:p>
        </p:txBody>
      </p:sp>
      <p:sp>
        <p:nvSpPr>
          <p:cNvPr id="11293" name="AutoShape 29" descr="Gráfico de respostas do Formulários Google. Título da pergunta: Idade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295" name="AutoShape 31" descr="Gráfico de respostas do Formulários Google. Título da pergunta: Idade. Número de respostas: 156 resposta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1296" name="Picture 32"/>
          <p:cNvPicPr>
            <a:picLocks noChangeAspect="1" noChangeArrowheads="1"/>
          </p:cNvPicPr>
          <p:nvPr/>
        </p:nvPicPr>
        <p:blipFill>
          <a:blip r:embed="rId3" cstate="print"/>
          <a:srcRect l="24070" t="35062" r="34976" b="30485"/>
          <a:stretch>
            <a:fillRect/>
          </a:stretch>
        </p:blipFill>
        <p:spPr bwMode="auto">
          <a:xfrm>
            <a:off x="4355976" y="2348880"/>
            <a:ext cx="4262874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98" name="Picture 34"/>
          <p:cNvPicPr>
            <a:picLocks noChangeAspect="1" noChangeArrowheads="1"/>
          </p:cNvPicPr>
          <p:nvPr/>
        </p:nvPicPr>
        <p:blipFill>
          <a:blip r:embed="rId4" cstate="print"/>
          <a:srcRect l="24351" t="49218" r="38569" b="16329"/>
          <a:stretch>
            <a:fillRect/>
          </a:stretch>
        </p:blipFill>
        <p:spPr bwMode="auto">
          <a:xfrm>
            <a:off x="0" y="2348880"/>
            <a:ext cx="4135317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CaixaDeTexto 29"/>
          <p:cNvSpPr txBox="1"/>
          <p:nvPr/>
        </p:nvSpPr>
        <p:spPr>
          <a:xfrm>
            <a:off x="5292080" y="4582288"/>
            <a:ext cx="3240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192449"/>
                </a:solidFill>
              </a:rPr>
              <a:t>75 pessoas acima de 36 anos;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34 pessoas de 32 a 36 anos;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22 pessoas de 28 a 32 anos;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18 pessoas de 24 a 28 anos;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04 pessoas de 22 a 24 anos;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03 pessoas de 18 a 22 anos;</a:t>
            </a:r>
            <a:endParaRPr lang="pt-BR" sz="1400" dirty="0">
              <a:solidFill>
                <a:srgbClr val="192449"/>
              </a:solidFill>
            </a:endParaRPr>
          </a:p>
        </p:txBody>
      </p:sp>
      <p:grpSp>
        <p:nvGrpSpPr>
          <p:cNvPr id="23" name="Grupo 22"/>
          <p:cNvGrpSpPr/>
          <p:nvPr/>
        </p:nvGrpSpPr>
        <p:grpSpPr>
          <a:xfrm>
            <a:off x="-17441" y="6040451"/>
            <a:ext cx="9180512" cy="930483"/>
            <a:chOff x="-5906" y="5945999"/>
            <a:chExt cx="9180512" cy="930483"/>
          </a:xfrm>
        </p:grpSpPr>
        <p:sp>
          <p:nvSpPr>
            <p:cNvPr id="25" name="Retângulo 24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1038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-85660" y="0"/>
            <a:ext cx="9361040" cy="1844824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22960" y="213647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VALIDAÇÃO DA DOR </a:t>
            </a:r>
            <a:br>
              <a:rPr lang="pt-BR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0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(156 entrevistados)</a:t>
            </a:r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 cstate="print"/>
          <a:srcRect l="24070" t="45890" r="25014" b="16704"/>
          <a:stretch>
            <a:fillRect/>
          </a:stretch>
        </p:blipFill>
        <p:spPr bwMode="auto">
          <a:xfrm>
            <a:off x="1331640" y="1844824"/>
            <a:ext cx="6624736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>
            <a:off x="1331640" y="4567064"/>
            <a:ext cx="66247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192449"/>
                </a:solidFill>
              </a:rPr>
              <a:t>88 pessoas casadas;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47 pessoas solteiras;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11 pessoas divorciadas;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09 pessoas em união estável;</a:t>
            </a:r>
          </a:p>
          <a:p>
            <a:r>
              <a:rPr lang="pt-BR" sz="1400" dirty="0" smtClean="0">
                <a:solidFill>
                  <a:srgbClr val="192449"/>
                </a:solidFill>
              </a:rPr>
              <a:t>01 pessoa </a:t>
            </a:r>
            <a:r>
              <a:rPr lang="pt-BR" sz="1400" dirty="0" err="1" smtClean="0">
                <a:solidFill>
                  <a:srgbClr val="192449"/>
                </a:solidFill>
              </a:rPr>
              <a:t>amaziada</a:t>
            </a:r>
            <a:r>
              <a:rPr lang="pt-BR" sz="1400" dirty="0" smtClean="0">
                <a:solidFill>
                  <a:srgbClr val="192449"/>
                </a:solidFill>
              </a:rPr>
              <a:t>;</a:t>
            </a:r>
            <a:endParaRPr lang="pt-BR" sz="1400" dirty="0">
              <a:solidFill>
                <a:srgbClr val="192449"/>
              </a:solidFill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-17805" y="5927517"/>
            <a:ext cx="9180512" cy="930483"/>
            <a:chOff x="-5906" y="5945999"/>
            <a:chExt cx="9180512" cy="930483"/>
          </a:xfrm>
        </p:grpSpPr>
        <p:sp>
          <p:nvSpPr>
            <p:cNvPr id="6" name="Retângulo 5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8776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-85660" y="0"/>
            <a:ext cx="9361040" cy="1787311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37828" y="610589"/>
            <a:ext cx="7543800" cy="828641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4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VALIDAÇÃO DA </a:t>
            </a:r>
            <a: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b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(Perguntas da pesquisa)</a:t>
            </a:r>
            <a:endParaRPr lang="pt-BR" sz="3600" b="1" dirty="0">
              <a:solidFill>
                <a:srgbClr val="AFECD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/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737828" y="2104852"/>
            <a:ext cx="770485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perguntas realizadas para verificar se a sociedade possuía a dor percebida pelo grupo foram as seguintes:</a:t>
            </a:r>
          </a:p>
          <a:p>
            <a:endParaRPr lang="pt-BR" sz="1600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92449"/>
              </a:buClr>
              <a:buFont typeface="+mj-lt"/>
              <a:buAutoNum type="arabicPeriod"/>
            </a:pPr>
            <a:r>
              <a:rPr lang="pt-BR" sz="16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Qual a dificuldade em encontrar uma oficina mecânica que você pode confiar?</a:t>
            </a:r>
          </a:p>
          <a:p>
            <a:pPr marL="342900" indent="-342900">
              <a:buClr>
                <a:srgbClr val="192449"/>
              </a:buClr>
              <a:buFont typeface="+mj-lt"/>
              <a:buAutoNum type="arabicPeriod"/>
            </a:pPr>
            <a:r>
              <a:rPr lang="pt-BR" sz="16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Qual a dificuldade de consertar o seu automóvel em uma única oficina mecânica?</a:t>
            </a:r>
          </a:p>
          <a:p>
            <a:pPr marL="342900" indent="-342900">
              <a:buClr>
                <a:srgbClr val="192449"/>
              </a:buClr>
              <a:buFont typeface="+mj-lt"/>
              <a:buAutoNum type="arabicPeriod"/>
            </a:pPr>
            <a:r>
              <a:rPr lang="pt-BR" sz="16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Qual a dificuldade de comprar peças de veículos automotores para o conserto do seu automóvel em um curto período de tempo?</a:t>
            </a:r>
          </a:p>
          <a:p>
            <a:pPr marL="342900" indent="-342900">
              <a:buClr>
                <a:srgbClr val="192449"/>
              </a:buClr>
              <a:buFont typeface="+mj-lt"/>
              <a:buAutoNum type="arabicPeriod"/>
            </a:pPr>
            <a:r>
              <a:rPr lang="pt-BR" sz="16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Qual a dificuldade de encontrar peças de qualidade em uma única oficina mecânica?</a:t>
            </a:r>
          </a:p>
          <a:p>
            <a:pPr marL="342900" indent="-342900">
              <a:buClr>
                <a:srgbClr val="192449"/>
              </a:buClr>
              <a:buFont typeface="+mj-lt"/>
              <a:buAutoNum type="arabicPeriod"/>
            </a:pPr>
            <a:r>
              <a:rPr lang="pt-BR" sz="16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Qual a dificuldade de confiar na qualidade das peças que você adquire quando conserta seu veículo em uma oficina mecânica?</a:t>
            </a:r>
          </a:p>
          <a:p>
            <a:pPr marL="342900" indent="-342900">
              <a:buClr>
                <a:srgbClr val="192449"/>
              </a:buClr>
              <a:buFont typeface="+mj-lt"/>
              <a:buAutoNum type="arabicPeriod"/>
            </a:pPr>
            <a:r>
              <a:rPr lang="pt-BR" sz="16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Quanto um atraso na manutenção do seu veículo deixa você insatisfeito?</a:t>
            </a:r>
          </a:p>
          <a:p>
            <a:endParaRPr lang="pt-BR" dirty="0"/>
          </a:p>
        </p:txBody>
      </p:sp>
      <p:grpSp>
        <p:nvGrpSpPr>
          <p:cNvPr id="7" name="Grupo 6"/>
          <p:cNvGrpSpPr/>
          <p:nvPr/>
        </p:nvGrpSpPr>
        <p:grpSpPr>
          <a:xfrm>
            <a:off x="0" y="5927517"/>
            <a:ext cx="9180512" cy="930483"/>
            <a:chOff x="-5906" y="5945999"/>
            <a:chExt cx="9180512" cy="930483"/>
          </a:xfrm>
        </p:grpSpPr>
        <p:sp>
          <p:nvSpPr>
            <p:cNvPr id="8" name="Retângulo 7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719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-85660" y="0"/>
            <a:ext cx="9361040" cy="1787311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83568" y="641503"/>
            <a:ext cx="7543800" cy="828641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4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VALIDAÇÃO DA </a:t>
            </a:r>
            <a: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b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(Gráficos)</a:t>
            </a:r>
            <a:endParaRPr lang="pt-BR" sz="4400" b="1" dirty="0">
              <a:solidFill>
                <a:srgbClr val="AFECD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0" y="5927517"/>
            <a:ext cx="9180512" cy="930483"/>
            <a:chOff x="-5906" y="5945999"/>
            <a:chExt cx="9180512" cy="930483"/>
          </a:xfrm>
        </p:grpSpPr>
        <p:sp>
          <p:nvSpPr>
            <p:cNvPr id="8" name="Retângulo 7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Imagem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916832"/>
            <a:ext cx="3672408" cy="1570765"/>
          </a:xfrm>
          <a:prstGeom prst="rect">
            <a:avLst/>
          </a:prstGeom>
        </p:spPr>
      </p:pic>
      <p:pic>
        <p:nvPicPr>
          <p:cNvPr id="12" name="Imagem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677465"/>
            <a:ext cx="3837037" cy="1500500"/>
          </a:xfrm>
          <a:prstGeom prst="rect">
            <a:avLst/>
          </a:prstGeom>
        </p:spPr>
      </p:pic>
      <p:pic>
        <p:nvPicPr>
          <p:cNvPr id="13" name="Imagem 1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924712"/>
            <a:ext cx="4020106" cy="1657077"/>
          </a:xfrm>
          <a:prstGeom prst="rect">
            <a:avLst/>
          </a:prstGeom>
        </p:spPr>
      </p:pic>
      <p:sp>
        <p:nvSpPr>
          <p:cNvPr id="15" name="Título 1"/>
          <p:cNvSpPr txBox="1">
            <a:spLocks/>
          </p:cNvSpPr>
          <p:nvPr/>
        </p:nvSpPr>
        <p:spPr>
          <a:xfrm>
            <a:off x="683568" y="5045243"/>
            <a:ext cx="7543800" cy="82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Onde 0 é dificílimo e 7 é facílimo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419872" y="18253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192449"/>
                </a:solidFill>
              </a:rPr>
              <a:t>1</a:t>
            </a:r>
            <a:endParaRPr lang="pt-BR" b="1" dirty="0">
              <a:solidFill>
                <a:srgbClr val="192449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3424411" y="37308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192449"/>
                </a:solidFill>
              </a:rPr>
              <a:t>2</a:t>
            </a:r>
            <a:endParaRPr lang="pt-BR" b="1" dirty="0">
              <a:solidFill>
                <a:srgbClr val="192449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8316416" y="28279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19244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5219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-85660" y="0"/>
            <a:ext cx="9361040" cy="1787311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23459" y="660332"/>
            <a:ext cx="7543800" cy="828641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4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VALIDAÇÃO DA </a:t>
            </a:r>
            <a: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b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4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(Gráficos)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0" y="5927517"/>
            <a:ext cx="9180512" cy="930483"/>
            <a:chOff x="-5906" y="5945999"/>
            <a:chExt cx="9180512" cy="930483"/>
          </a:xfrm>
        </p:grpSpPr>
        <p:sp>
          <p:nvSpPr>
            <p:cNvPr id="8" name="Retângulo 7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ítulo 1"/>
          <p:cNvSpPr txBox="1">
            <a:spLocks/>
          </p:cNvSpPr>
          <p:nvPr/>
        </p:nvSpPr>
        <p:spPr>
          <a:xfrm>
            <a:off x="-1540160" y="5049742"/>
            <a:ext cx="7543800" cy="82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4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Onde 0 é dificílimo e 7 é facílimo</a:t>
            </a:r>
          </a:p>
        </p:txBody>
      </p:sp>
      <p:pic>
        <p:nvPicPr>
          <p:cNvPr id="16" name="Imagem 1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766596"/>
            <a:ext cx="3960440" cy="1630385"/>
          </a:xfrm>
          <a:prstGeom prst="rect">
            <a:avLst/>
          </a:prstGeom>
        </p:spPr>
      </p:pic>
      <p:pic>
        <p:nvPicPr>
          <p:cNvPr id="17" name="Imagem 1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2902593"/>
            <a:ext cx="3816424" cy="1500864"/>
          </a:xfrm>
          <a:prstGeom prst="rect">
            <a:avLst/>
          </a:prstGeom>
        </p:spPr>
      </p:pic>
      <p:pic>
        <p:nvPicPr>
          <p:cNvPr id="18" name="Imagem 1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965643"/>
            <a:ext cx="3920504" cy="1657689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8316416" y="28279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192449"/>
                </a:solidFill>
              </a:rPr>
              <a:t>6</a:t>
            </a:r>
            <a:endParaRPr lang="pt-BR" b="1" dirty="0">
              <a:solidFill>
                <a:srgbClr val="192449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4039944" y="18543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192449"/>
                </a:solidFill>
              </a:rPr>
              <a:t>4</a:t>
            </a:r>
            <a:endParaRPr lang="pt-BR" b="1" dirty="0">
              <a:solidFill>
                <a:srgbClr val="192449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4104293" y="36530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192449"/>
                </a:solidFill>
              </a:rPr>
              <a:t>5</a:t>
            </a:r>
            <a:endParaRPr lang="pt-BR" b="1" dirty="0">
              <a:solidFill>
                <a:srgbClr val="192449"/>
              </a:solidFill>
            </a:endParaRPr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5004048" y="2019275"/>
            <a:ext cx="4392488" cy="82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Onde 0 é muito insatisfeito e 7 é pouco insatisfeito</a:t>
            </a:r>
          </a:p>
        </p:txBody>
      </p:sp>
    </p:spTree>
    <p:extLst>
      <p:ext uri="{BB962C8B-B14F-4D97-AF65-F5344CB8AC3E}">
        <p14:creationId xmlns:p14="http://schemas.microsoft.com/office/powerpoint/2010/main" val="220893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-90264" y="0"/>
            <a:ext cx="9361040" cy="1787311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10434" y="750982"/>
            <a:ext cx="7543800" cy="80710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400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VALIDAÇÃO DA </a:t>
            </a:r>
            <a: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b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(Conclusão)</a:t>
            </a:r>
            <a:endParaRPr lang="pt-BR" sz="4400" b="1" dirty="0">
              <a:solidFill>
                <a:srgbClr val="AFECD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/>
          </a:p>
          <a:p>
            <a:endParaRPr lang="pt-BR" dirty="0" smtClean="0"/>
          </a:p>
        </p:txBody>
      </p:sp>
      <p:sp>
        <p:nvSpPr>
          <p:cNvPr id="5" name="CaixaDeTexto 4"/>
          <p:cNvSpPr txBox="1"/>
          <p:nvPr/>
        </p:nvSpPr>
        <p:spPr>
          <a:xfrm>
            <a:off x="818356" y="2680507"/>
            <a:ext cx="7704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pesquisa de validação da dor revelou que os entrevistados possuíam a mesma percepção de dor do grupo de trabalho. A maioria das respostas informaram que os entrevistados têm grande dificuldade e insatisfação em relação aos serviços de oficinas mecânicas e autopeças para reparo de automóveis.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0" y="5927517"/>
            <a:ext cx="9180512" cy="930483"/>
            <a:chOff x="-5906" y="5945999"/>
            <a:chExt cx="9180512" cy="930483"/>
          </a:xfrm>
        </p:grpSpPr>
        <p:sp>
          <p:nvSpPr>
            <p:cNvPr id="8" name="Retângulo 7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719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-70204" y="0"/>
            <a:ext cx="9361040" cy="1772816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416" y="526367"/>
            <a:ext cx="7543800" cy="684625"/>
          </a:xfrm>
        </p:spPr>
        <p:txBody>
          <a:bodyPr>
            <a:noAutofit/>
          </a:bodyPr>
          <a:lstStyle/>
          <a:p>
            <a:pPr algn="ctr"/>
            <a:r>
              <a:rPr lang="pt-BR" b="1" dirty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PROPOSTA DE VALOR</a:t>
            </a:r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375475" y="1869130"/>
            <a:ext cx="8429561" cy="4023360"/>
          </a:xfrm>
        </p:spPr>
        <p:txBody>
          <a:bodyPr/>
          <a:lstStyle/>
          <a:p>
            <a:r>
              <a:rPr lang="pt-BR" sz="2400" b="1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plataforma tem o objetivo de:</a:t>
            </a:r>
          </a:p>
          <a:p>
            <a:pPr lvl="1"/>
            <a:endParaRPr lang="pt-BR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Cadastrar estabelecimentos e produtos de qualidade com adequação e tecnologia para simplificar a pesquisa dos serviços de conserto de automóveis;</a:t>
            </a:r>
          </a:p>
          <a:p>
            <a:pPr marL="201168" lvl="1" indent="0">
              <a:buClr>
                <a:srgbClr val="192449"/>
              </a:buClr>
              <a:buNone/>
            </a:pPr>
            <a:endParaRPr lang="pt-BR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Diminuição no tempo de procura dos serviços relacionados a reparo de veículos;</a:t>
            </a:r>
          </a:p>
          <a:p>
            <a:pPr marL="201168" lvl="1" indent="0">
              <a:buClr>
                <a:srgbClr val="192449"/>
              </a:buClr>
              <a:buNone/>
            </a:pPr>
            <a:endParaRPr lang="pt-BR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Orçamento grátis mediante agendamento on-line;</a:t>
            </a:r>
          </a:p>
          <a:p>
            <a:pPr marL="201168" lvl="1" indent="0">
              <a:buClr>
                <a:srgbClr val="192449"/>
              </a:buClr>
              <a:buNone/>
            </a:pPr>
            <a:endParaRPr lang="pt-BR" dirty="0" smtClean="0">
              <a:solidFill>
                <a:srgbClr val="1924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192449"/>
              </a:buClr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Plataforma com avaliação de qualidade disponível para usuários do serviço , aumento a confiabilidade no serviço;</a:t>
            </a:r>
          </a:p>
          <a:p>
            <a:pPr lvl="2">
              <a:buNone/>
            </a:pPr>
            <a:endParaRPr lang="pt-BR" dirty="0" smtClean="0"/>
          </a:p>
          <a:p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endParaRPr lang="pt-BR" sz="2400" dirty="0" smtClean="0"/>
          </a:p>
          <a:p>
            <a:pPr marL="0" indent="0">
              <a:buNone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/>
          </a:p>
          <a:p>
            <a:endParaRPr lang="pt-BR" dirty="0"/>
          </a:p>
        </p:txBody>
      </p:sp>
      <p:grpSp>
        <p:nvGrpSpPr>
          <p:cNvPr id="7" name="Grupo 6"/>
          <p:cNvGrpSpPr/>
          <p:nvPr/>
        </p:nvGrpSpPr>
        <p:grpSpPr>
          <a:xfrm>
            <a:off x="0" y="5927517"/>
            <a:ext cx="9180512" cy="930483"/>
            <a:chOff x="-5906" y="5945999"/>
            <a:chExt cx="9180512" cy="930483"/>
          </a:xfrm>
        </p:grpSpPr>
        <p:sp>
          <p:nvSpPr>
            <p:cNvPr id="8" name="Retângulo 7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200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2159168"/>
            <a:ext cx="8028384" cy="1737361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aixaDeTexto 5"/>
          <p:cNvSpPr txBox="1"/>
          <p:nvPr/>
        </p:nvSpPr>
        <p:spPr>
          <a:xfrm>
            <a:off x="251520" y="2289184"/>
            <a:ext cx="4680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Produto Mínimo Viável</a:t>
            </a:r>
            <a:endParaRPr lang="pt-BR" sz="4500" dirty="0">
              <a:solidFill>
                <a:srgbClr val="AFECD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0" y="5927517"/>
            <a:ext cx="9180512" cy="930483"/>
            <a:chOff x="-5906" y="5945999"/>
            <a:chExt cx="9180512" cy="930483"/>
          </a:xfrm>
        </p:grpSpPr>
        <p:sp>
          <p:nvSpPr>
            <p:cNvPr id="5" name="Retângulo 4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166" y="1530652"/>
            <a:ext cx="8696325" cy="257175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V="1">
            <a:off x="0" y="3697820"/>
            <a:ext cx="8696325" cy="4571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2245264"/>
            <a:ext cx="9144000" cy="87839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6032029" y="140810"/>
            <a:ext cx="1996355" cy="187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3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166" y="1530652"/>
            <a:ext cx="8696325" cy="257175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 rot="5400000">
            <a:off x="-1905930" y="1905929"/>
            <a:ext cx="6583660" cy="2771802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849" y="0"/>
            <a:ext cx="4120123" cy="63083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CaixaDeTexto 14"/>
          <p:cNvSpPr txBox="1"/>
          <p:nvPr/>
        </p:nvSpPr>
        <p:spPr>
          <a:xfrm>
            <a:off x="125757" y="1923366"/>
            <a:ext cx="25202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Tela Inicial</a:t>
            </a:r>
          </a:p>
          <a:p>
            <a:pPr algn="ctr"/>
            <a:endParaRPr lang="pt-BR" sz="4500" dirty="0" smtClean="0">
              <a:solidFill>
                <a:srgbClr val="AFECD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5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HOME</a:t>
            </a:r>
            <a:endParaRPr lang="pt-BR" sz="4500" dirty="0">
              <a:solidFill>
                <a:srgbClr val="AFECD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870188" y="192046"/>
            <a:ext cx="1031421" cy="969103"/>
          </a:xfrm>
          <a:prstGeom prst="rect">
            <a:avLst/>
          </a:prstGeom>
        </p:spPr>
      </p:pic>
      <p:grpSp>
        <p:nvGrpSpPr>
          <p:cNvPr id="17" name="Grupo 16"/>
          <p:cNvGrpSpPr/>
          <p:nvPr/>
        </p:nvGrpSpPr>
        <p:grpSpPr>
          <a:xfrm>
            <a:off x="-1" y="6308323"/>
            <a:ext cx="9180512" cy="549678"/>
            <a:chOff x="-5906" y="5945999"/>
            <a:chExt cx="9180512" cy="930483"/>
          </a:xfrm>
        </p:grpSpPr>
        <p:sp>
          <p:nvSpPr>
            <p:cNvPr id="18" name="Retângulo 17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Imagem 1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 flipV="1">
            <a:off x="-2477271" y="2696459"/>
            <a:ext cx="5445226" cy="52308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10800000" flipV="1">
            <a:off x="795105" y="3654480"/>
            <a:ext cx="1181581" cy="5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9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166" y="1530652"/>
            <a:ext cx="8696325" cy="257175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 rot="5400000">
            <a:off x="-1905930" y="1905929"/>
            <a:ext cx="6583660" cy="2771802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upo 3"/>
          <p:cNvGrpSpPr/>
          <p:nvPr/>
        </p:nvGrpSpPr>
        <p:grpSpPr>
          <a:xfrm>
            <a:off x="-1" y="6308323"/>
            <a:ext cx="9180512" cy="549678"/>
            <a:chOff x="-5906" y="5945999"/>
            <a:chExt cx="9180512" cy="930483"/>
          </a:xfrm>
        </p:grpSpPr>
        <p:sp>
          <p:nvSpPr>
            <p:cNvPr id="5" name="Retângulo 4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CaixaDeTexto 14"/>
          <p:cNvSpPr txBox="1"/>
          <p:nvPr/>
        </p:nvSpPr>
        <p:spPr>
          <a:xfrm>
            <a:off x="13617" y="1956026"/>
            <a:ext cx="27900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Tela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Listagem</a:t>
            </a:r>
          </a:p>
          <a:p>
            <a:pPr algn="ctr"/>
            <a:r>
              <a:rPr lang="pt-BR" sz="3600" dirty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e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Produtos</a:t>
            </a:r>
            <a:endParaRPr lang="pt-BR" sz="3600" dirty="0">
              <a:solidFill>
                <a:srgbClr val="AFECD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870188" y="192046"/>
            <a:ext cx="1031421" cy="96910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7587"/>
            <a:ext cx="4120123" cy="63083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 flipV="1">
            <a:off x="-2477271" y="2696459"/>
            <a:ext cx="5445226" cy="5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4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166" y="1530652"/>
            <a:ext cx="8696325" cy="257175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 rot="5400000">
            <a:off x="-1905930" y="1905929"/>
            <a:ext cx="6583660" cy="2771802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upo 3"/>
          <p:cNvGrpSpPr/>
          <p:nvPr/>
        </p:nvGrpSpPr>
        <p:grpSpPr>
          <a:xfrm>
            <a:off x="-1" y="6308323"/>
            <a:ext cx="9180512" cy="549678"/>
            <a:chOff x="-5906" y="5945999"/>
            <a:chExt cx="9180512" cy="930483"/>
          </a:xfrm>
        </p:grpSpPr>
        <p:sp>
          <p:nvSpPr>
            <p:cNvPr id="5" name="Retângulo 4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CaixaDeTexto 14"/>
          <p:cNvSpPr txBox="1"/>
          <p:nvPr/>
        </p:nvSpPr>
        <p:spPr>
          <a:xfrm>
            <a:off x="13617" y="1956026"/>
            <a:ext cx="27900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Tela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Detalhes 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do 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Produto</a:t>
            </a:r>
            <a:endParaRPr lang="pt-BR" sz="3600" dirty="0">
              <a:solidFill>
                <a:srgbClr val="AFECD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870188" y="192046"/>
            <a:ext cx="1031421" cy="96910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 flipV="1">
            <a:off x="-2477271" y="2696459"/>
            <a:ext cx="5445226" cy="5230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1" y="0"/>
            <a:ext cx="3967344" cy="63083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32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166" y="1530652"/>
            <a:ext cx="8696325" cy="257175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 rot="5400000">
            <a:off x="-1905930" y="1905929"/>
            <a:ext cx="6583660" cy="2771802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upo 3"/>
          <p:cNvGrpSpPr/>
          <p:nvPr/>
        </p:nvGrpSpPr>
        <p:grpSpPr>
          <a:xfrm>
            <a:off x="-1" y="6308323"/>
            <a:ext cx="9180512" cy="549678"/>
            <a:chOff x="-5906" y="5945999"/>
            <a:chExt cx="9180512" cy="930483"/>
          </a:xfrm>
        </p:grpSpPr>
        <p:sp>
          <p:nvSpPr>
            <p:cNvPr id="5" name="Retângulo 4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CaixaDeTexto 14"/>
          <p:cNvSpPr txBox="1"/>
          <p:nvPr/>
        </p:nvSpPr>
        <p:spPr>
          <a:xfrm>
            <a:off x="0" y="2553996"/>
            <a:ext cx="2790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Tela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Carrinho</a:t>
            </a:r>
            <a:endParaRPr lang="pt-BR" sz="3600" dirty="0">
              <a:solidFill>
                <a:srgbClr val="AFECD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870188" y="192046"/>
            <a:ext cx="1031421" cy="96910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 flipV="1">
            <a:off x="-2477271" y="2696459"/>
            <a:ext cx="5445226" cy="52308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028" y="676097"/>
            <a:ext cx="6076330" cy="4834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739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166" y="1530652"/>
            <a:ext cx="8696325" cy="257175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 rot="5400000">
            <a:off x="-1905930" y="1905929"/>
            <a:ext cx="6583660" cy="2771802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upo 3"/>
          <p:cNvGrpSpPr/>
          <p:nvPr/>
        </p:nvGrpSpPr>
        <p:grpSpPr>
          <a:xfrm>
            <a:off x="-1" y="6308323"/>
            <a:ext cx="9180512" cy="549678"/>
            <a:chOff x="-5906" y="5945999"/>
            <a:chExt cx="9180512" cy="930483"/>
          </a:xfrm>
        </p:grpSpPr>
        <p:sp>
          <p:nvSpPr>
            <p:cNvPr id="5" name="Retângulo 4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CaixaDeTexto 14"/>
          <p:cNvSpPr txBox="1"/>
          <p:nvPr/>
        </p:nvSpPr>
        <p:spPr>
          <a:xfrm>
            <a:off x="0" y="2553996"/>
            <a:ext cx="27900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Tela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Cadastro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PF</a:t>
            </a:r>
          </a:p>
          <a:p>
            <a:pPr algn="ctr"/>
            <a:r>
              <a:rPr lang="pt-BR" sz="20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(Pessoa Física)</a:t>
            </a:r>
            <a:endParaRPr lang="pt-BR" sz="2000" dirty="0">
              <a:solidFill>
                <a:srgbClr val="AFECD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870188" y="192046"/>
            <a:ext cx="1031421" cy="96910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 flipV="1">
            <a:off x="-2477271" y="2696459"/>
            <a:ext cx="5445226" cy="5230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156" y="-9570"/>
            <a:ext cx="4866753" cy="63178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853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166" y="1530652"/>
            <a:ext cx="8696325" cy="257175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 rot="5400000">
            <a:off x="-1905930" y="1905929"/>
            <a:ext cx="6583660" cy="2771802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upo 3"/>
          <p:cNvGrpSpPr/>
          <p:nvPr/>
        </p:nvGrpSpPr>
        <p:grpSpPr>
          <a:xfrm>
            <a:off x="-1" y="6308323"/>
            <a:ext cx="9180512" cy="549678"/>
            <a:chOff x="-5906" y="5945999"/>
            <a:chExt cx="9180512" cy="930483"/>
          </a:xfrm>
        </p:grpSpPr>
        <p:sp>
          <p:nvSpPr>
            <p:cNvPr id="5" name="Retângulo 4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CaixaDeTexto 14"/>
          <p:cNvSpPr txBox="1"/>
          <p:nvPr/>
        </p:nvSpPr>
        <p:spPr>
          <a:xfrm>
            <a:off x="0" y="2553996"/>
            <a:ext cx="27900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Tela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Cadastro</a:t>
            </a:r>
          </a:p>
          <a:p>
            <a:pPr algn="ctr"/>
            <a:r>
              <a:rPr lang="pt-BR" sz="36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PJ</a:t>
            </a:r>
          </a:p>
          <a:p>
            <a:pPr algn="ctr"/>
            <a:r>
              <a:rPr lang="pt-BR" sz="2000" dirty="0" smtClean="0">
                <a:solidFill>
                  <a:srgbClr val="AFECD1"/>
                </a:solidFill>
                <a:latin typeface="Arial" pitchFamily="34" charset="0"/>
                <a:cs typeface="Arial" pitchFamily="34" charset="0"/>
              </a:rPr>
              <a:t>(Pessoa Jurídica)</a:t>
            </a:r>
            <a:endParaRPr lang="pt-BR" sz="2000" dirty="0">
              <a:solidFill>
                <a:srgbClr val="AFECD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870188" y="192046"/>
            <a:ext cx="1031421" cy="96910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 flipV="1">
            <a:off x="-2477271" y="2696459"/>
            <a:ext cx="5445226" cy="52308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0"/>
            <a:ext cx="4632675" cy="63083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160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-99392"/>
            <a:ext cx="9144000" cy="1296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tângulo 8"/>
          <p:cNvSpPr/>
          <p:nvPr/>
        </p:nvSpPr>
        <p:spPr>
          <a:xfrm>
            <a:off x="0" y="4817433"/>
            <a:ext cx="9180512" cy="2060848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tângulo 10"/>
          <p:cNvSpPr/>
          <p:nvPr/>
        </p:nvSpPr>
        <p:spPr>
          <a:xfrm>
            <a:off x="-18256" y="-735468"/>
            <a:ext cx="9180512" cy="2475340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aixaDeTexto 9"/>
          <p:cNvSpPr txBox="1"/>
          <p:nvPr/>
        </p:nvSpPr>
        <p:spPr>
          <a:xfrm>
            <a:off x="629816" y="348478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</p:txBody>
      </p:sp>
      <p:sp>
        <p:nvSpPr>
          <p:cNvPr id="2" name="AutoShape 2" descr="Resultado de imagem para doação de sangu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417240" y="143930"/>
            <a:ext cx="1208886" cy="1135845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413792" y="5059951"/>
            <a:ext cx="831641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 Integrador I</a:t>
            </a:r>
          </a:p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de Sistemas</a:t>
            </a:r>
          </a:p>
          <a:p>
            <a:pPr algn="ctr"/>
            <a:r>
              <a:rPr lang="pt-BR" sz="20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Newton Paiva</a:t>
            </a:r>
          </a:p>
        </p:txBody>
      </p:sp>
      <p:sp>
        <p:nvSpPr>
          <p:cNvPr id="4" name="Retângulo 3"/>
          <p:cNvSpPr/>
          <p:nvPr/>
        </p:nvSpPr>
        <p:spPr>
          <a:xfrm>
            <a:off x="460375" y="2182150"/>
            <a:ext cx="83975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Produto Mínimo </a:t>
            </a:r>
            <a:r>
              <a:rPr lang="pt-BR" sz="20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Viável (</a:t>
            </a:r>
            <a:r>
              <a:rPr lang="pt-BR" sz="2000" dirty="0" err="1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</a:t>
            </a:r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Viabel</a:t>
            </a:r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MVP) foi idealizado a </a:t>
            </a:r>
            <a:r>
              <a:rPr lang="pt-BR" sz="20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partir da </a:t>
            </a:r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percepção de uma "dor de mercado" e da pesquisa de validação da dor. A </a:t>
            </a:r>
            <a:r>
              <a:rPr lang="pt-BR" sz="20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percepção dos </a:t>
            </a:r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entrevistados foi a mesma do grupo de trabalho. Assim sendo, foi criada a plataforma "</a:t>
            </a:r>
            <a:r>
              <a:rPr lang="pt-BR" sz="2000" dirty="0" err="1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EasyAuto</a:t>
            </a:r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para apresentar ao mercado de reparo e peças de automóveis, uma alternativa segura, com serviços e estabelecimentos de qualidade e </a:t>
            </a:r>
            <a:r>
              <a:rPr lang="pt-BR" sz="2000" dirty="0" smtClean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especializados</a:t>
            </a:r>
            <a:r>
              <a:rPr lang="pt-BR" sz="2000" dirty="0">
                <a:solidFill>
                  <a:srgbClr val="192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-252536" y="6516092"/>
            <a:ext cx="9439041" cy="402520"/>
            <a:chOff x="-5906" y="5945999"/>
            <a:chExt cx="9180512" cy="930483"/>
          </a:xfrm>
        </p:grpSpPr>
        <p:sp>
          <p:nvSpPr>
            <p:cNvPr id="14" name="Retângulo 13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-252536" y="1458196"/>
            <a:ext cx="9433048" cy="402520"/>
            <a:chOff x="-5906" y="5945999"/>
            <a:chExt cx="9180512" cy="930483"/>
          </a:xfrm>
        </p:grpSpPr>
        <p:sp>
          <p:nvSpPr>
            <p:cNvPr id="17" name="Retângulo 16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2766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-108520" y="0"/>
            <a:ext cx="9361040" cy="7029400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tângulo 7"/>
          <p:cNvSpPr/>
          <p:nvPr/>
        </p:nvSpPr>
        <p:spPr>
          <a:xfrm>
            <a:off x="-108520" y="3226588"/>
            <a:ext cx="8028384" cy="1737361"/>
          </a:xfrm>
          <a:prstGeom prst="rect">
            <a:avLst/>
          </a:prstGeom>
          <a:solidFill>
            <a:srgbClr val="192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V="1">
            <a:off x="1547664" y="701742"/>
            <a:ext cx="8696325" cy="45719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251282" y="411215"/>
            <a:ext cx="9144000" cy="87839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413792" y="908720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 smtClean="0">
                <a:solidFill>
                  <a:srgbClr val="AFEC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3" t="9824" r="20611" b="27662"/>
          <a:stretch/>
        </p:blipFill>
        <p:spPr>
          <a:xfrm>
            <a:off x="3390558" y="2650794"/>
            <a:ext cx="2636748" cy="2477436"/>
          </a:xfrm>
          <a:prstGeom prst="rect">
            <a:avLst/>
          </a:prstGeom>
        </p:spPr>
      </p:pic>
      <p:grpSp>
        <p:nvGrpSpPr>
          <p:cNvPr id="5" name="Grupo 4"/>
          <p:cNvGrpSpPr/>
          <p:nvPr/>
        </p:nvGrpSpPr>
        <p:grpSpPr>
          <a:xfrm>
            <a:off x="-252536" y="6479722"/>
            <a:ext cx="9922936" cy="549678"/>
            <a:chOff x="-5906" y="5945999"/>
            <a:chExt cx="9180512" cy="930483"/>
          </a:xfrm>
        </p:grpSpPr>
        <p:sp>
          <p:nvSpPr>
            <p:cNvPr id="6" name="Retângulo 5"/>
            <p:cNvSpPr/>
            <p:nvPr/>
          </p:nvSpPr>
          <p:spPr>
            <a:xfrm>
              <a:off x="-5906" y="6327802"/>
              <a:ext cx="9180512" cy="548680"/>
            </a:xfrm>
            <a:prstGeom prst="rect">
              <a:avLst/>
            </a:prstGeom>
            <a:solidFill>
              <a:srgbClr val="192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-5906" y="5945999"/>
              <a:ext cx="9180512" cy="548680"/>
            </a:xfrm>
            <a:prstGeom prst="rect">
              <a:avLst/>
            </a:prstGeom>
            <a:solidFill>
              <a:srgbClr val="AFEC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4400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iv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2062</TotalTime>
  <Words>582</Words>
  <Application>Microsoft Office PowerPoint</Application>
  <PresentationFormat>Apresentação na tela (4:3)</PresentationFormat>
  <Paragraphs>119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Aharoni</vt:lpstr>
      <vt:lpstr>Arial</vt:lpstr>
      <vt:lpstr>Calibri</vt:lpstr>
      <vt:lpstr>Calibri Light</vt:lpstr>
      <vt:lpstr>Wingdings</vt:lpstr>
      <vt:lpstr>Retrospectiva</vt:lpstr>
      <vt:lpstr>Apresentação do PowerPoint</vt:lpstr>
      <vt:lpstr>Apresentação do PowerPoint</vt:lpstr>
      <vt:lpstr>DOR</vt:lpstr>
      <vt:lpstr>DOR  (Informações Externas)</vt:lpstr>
      <vt:lpstr>DOR  (Informações Externas)</vt:lpstr>
      <vt:lpstr>VALIDAÇÃO DA DOR  (156 entrevistados)</vt:lpstr>
      <vt:lpstr>VALIDAÇÃO DA DOR  (156 entrevistados)</vt:lpstr>
      <vt:lpstr>VALIDAÇÃO DA DOR (Perguntas da pesquisa)</vt:lpstr>
      <vt:lpstr>VALIDAÇÃO DA DOR (Gráficos)</vt:lpstr>
      <vt:lpstr>VALIDAÇÃO DA DOR (Gráficos)</vt:lpstr>
      <vt:lpstr>VALIDAÇÃO DA DOR (Conclusão)</vt:lpstr>
      <vt:lpstr>PROPOSTA DE VALOR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Accenture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Barcelos Souza, L.</dc:creator>
  <cp:lastModifiedBy>Ana Paula Scalabrini</cp:lastModifiedBy>
  <cp:revision>154</cp:revision>
  <dcterms:created xsi:type="dcterms:W3CDTF">2015-11-17T16:16:56Z</dcterms:created>
  <dcterms:modified xsi:type="dcterms:W3CDTF">2020-06-17T00:55:09Z</dcterms:modified>
</cp:coreProperties>
</file>